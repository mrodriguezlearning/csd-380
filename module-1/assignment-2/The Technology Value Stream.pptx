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embeddedFontLst>
    <p:embeddedFont>
      <p:font typeface="Inter"/>
      <p:bold r:id="rId11"/>
    </p:embeddedFont>
    <p:embeddedFont>
      <p:font typeface="Oswald" panose="00000500000000000000" pitchFamily="2" charset="0"/>
      <p:regular r:id="rId12"/>
      <p:bold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emini.google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664047"/>
            <a:ext cx="952500" cy="762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09600" y="2045047"/>
            <a:ext cx="4226718" cy="2762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1" i="0" u="none">
                <a:solidFill>
                  <a:srgbClr val="0EA5E9"/>
                </a:solidFill>
                <a:latin typeface="Inter"/>
              </a:rPr>
              <a:t>DEVOPS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473672"/>
            <a:ext cx="10101262" cy="18439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7259"/>
              </a:lnSpc>
            </a:pPr>
            <a:r>
              <a:rPr sz="6600" b="1" i="0" u="none">
                <a:solidFill>
                  <a:srgbClr val="F8FAFC"/>
                </a:solidFill>
                <a:latin typeface="Oswald"/>
              </a:rPr>
              <a:t>THE TECHNOLOGY VALUE STREAM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546252"/>
            <a:ext cx="7715250" cy="1292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2100" b="0" i="0" u="none" dirty="0">
                <a:solidFill>
                  <a:srgbClr val="94A3B8"/>
                </a:solidFill>
                <a:latin typeface="Inter"/>
              </a:rPr>
              <a:t>Marco Rodriguez</a:t>
            </a:r>
          </a:p>
          <a:p>
            <a:pPr algn="l"/>
            <a:r>
              <a:rPr lang="en-US" sz="2100" dirty="0">
                <a:solidFill>
                  <a:srgbClr val="94A3B8"/>
                </a:solidFill>
                <a:latin typeface="Inter"/>
              </a:rPr>
              <a:t>CSD380 DevOps</a:t>
            </a:r>
          </a:p>
          <a:p>
            <a:pPr algn="l"/>
            <a:r>
              <a:rPr lang="en-US" sz="2100" b="0" i="0" u="none" dirty="0">
                <a:solidFill>
                  <a:srgbClr val="94A3B8"/>
                </a:solidFill>
                <a:latin typeface="Inter"/>
              </a:rPr>
              <a:t>Module 1 </a:t>
            </a:r>
          </a:p>
          <a:p>
            <a:pPr algn="l"/>
            <a:r>
              <a:rPr lang="en-US" sz="2100" dirty="0">
                <a:solidFill>
                  <a:srgbClr val="94A3B8"/>
                </a:solidFill>
                <a:latin typeface="Inter"/>
              </a:rPr>
              <a:t>Assignment 1.2</a:t>
            </a:r>
            <a:endParaRPr sz="2100" b="0" i="0" u="none" dirty="0">
              <a:solidFill>
                <a:srgbClr val="94A3B8"/>
              </a:solidFill>
              <a:latin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09600" y="2738437"/>
            <a:ext cx="10972800" cy="2514600"/>
          </a:xfrm>
          <a:prstGeom prst="roundRect">
            <a:avLst>
              <a:gd name="adj" fmla="val 60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1604962"/>
            <a:ext cx="76200" cy="676275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4567237"/>
            <a:ext cx="257175" cy="2286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38200" y="1604962"/>
            <a:ext cx="11353800" cy="676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0F172A"/>
                </a:solidFill>
                <a:latin typeface="Oswald"/>
              </a:rPr>
              <a:t>WHAT IS A VALUE STREAM?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6800" y="3195637"/>
            <a:ext cx="10153650" cy="1066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sz="3000" b="0" i="0" u="none" dirty="0">
                <a:solidFill>
                  <a:srgbClr val="334155"/>
                </a:solidFill>
                <a:latin typeface="Inter"/>
              </a:rPr>
              <a:t>"The sequence of activities an organization undertakes to deliver upon a customer request."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76375" y="4567237"/>
            <a:ext cx="4774406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 dirty="0">
                <a:solidFill>
                  <a:srgbClr val="64748B"/>
                </a:solidFill>
                <a:latin typeface="Inter"/>
              </a:rPr>
              <a:t>Source: The DevOps Handbook, Chapter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609600"/>
            <a:ext cx="76200" cy="676275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1743075"/>
            <a:ext cx="5334000" cy="4086225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248400" y="1743075"/>
            <a:ext cx="5334000" cy="4086225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5" y="3571875"/>
            <a:ext cx="171450" cy="24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6325" y="4143375"/>
            <a:ext cx="171450" cy="247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6325" y="4714875"/>
            <a:ext cx="171450" cy="2476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5125" y="3571875"/>
            <a:ext cx="257175" cy="2476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5125" y="4143375"/>
            <a:ext cx="200025" cy="2476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5125" y="4714875"/>
            <a:ext cx="228600" cy="2476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38200" y="609600"/>
            <a:ext cx="11353800" cy="676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0F172A"/>
                </a:solidFill>
                <a:latin typeface="Oswald"/>
              </a:rPr>
              <a:t>METRICS OF 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9600" y="6057900"/>
            <a:ext cx="115824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F172A"/>
                </a:solidFill>
                <a:latin typeface="Inter"/>
              </a:rPr>
              <a:t>Source: The DevOps Handbook, p. 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6325" y="2209800"/>
            <a:ext cx="472059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Oswald"/>
              </a:rPr>
              <a:t>LEAD 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6325" y="2933700"/>
            <a:ext cx="550068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THE CUSTOMER PERSPECTIVE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15125" y="2209800"/>
            <a:ext cx="472059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 i="0" u="none">
                <a:solidFill>
                  <a:srgbClr val="0F172A"/>
                </a:solidFill>
                <a:latin typeface="Oswald"/>
              </a:rPr>
              <a:t>PROCESSING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15125" y="2933700"/>
            <a:ext cx="5476875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THE ENGINEERING PERSPECTIVE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38275" y="3543300"/>
            <a:ext cx="413385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34155"/>
                </a:solidFill>
                <a:latin typeface="Inter"/>
              </a:rPr>
              <a:t>Clock starts when request is created.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38275" y="4114800"/>
            <a:ext cx="413385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34155"/>
                </a:solidFill>
                <a:latin typeface="Inter"/>
              </a:rPr>
              <a:t>Clock stops when request is delivered.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38275" y="4686300"/>
            <a:ext cx="413385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34155"/>
                </a:solidFill>
                <a:latin typeface="Inter"/>
              </a:rPr>
              <a:t>Includes all queueing and wait times.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62800" y="3543300"/>
            <a:ext cx="404812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34155"/>
                </a:solidFill>
                <a:latin typeface="Inter"/>
              </a:rPr>
              <a:t>Clock starts when actual work begins.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05650" y="4114800"/>
            <a:ext cx="4105275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334155"/>
                </a:solidFill>
                <a:latin typeface="Inter"/>
              </a:rPr>
              <a:t>Clock stops when task is complete.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4225" y="4686300"/>
            <a:ext cx="40767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334155"/>
                </a:solidFill>
                <a:latin typeface="Inter"/>
              </a:rPr>
              <a:t>Excludes time spent waiting in queues.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609600"/>
            <a:ext cx="76200" cy="676275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09600" y="3319462"/>
            <a:ext cx="1534864" cy="1143000"/>
          </a:xfrm>
          <a:prstGeom prst="rect">
            <a:avLst/>
          </a:prstGeom>
          <a:solidFill>
            <a:srgbClr val="F1F5F9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220664" y="3319462"/>
            <a:ext cx="3031628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328493" y="3319462"/>
            <a:ext cx="1534864" cy="1143000"/>
          </a:xfrm>
          <a:prstGeom prst="rect">
            <a:avLst/>
          </a:prstGeom>
          <a:solidFill>
            <a:srgbClr val="E0F2FE"/>
          </a:solidFill>
          <a:ln w="1905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939557" y="3319462"/>
            <a:ext cx="3031628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047386" y="3319462"/>
            <a:ext cx="1534864" cy="1143000"/>
          </a:xfrm>
          <a:prstGeom prst="rect">
            <a:avLst/>
          </a:prstGeom>
          <a:solidFill>
            <a:srgbClr val="E0F2FE"/>
          </a:solidFill>
          <a:ln w="1905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3014662"/>
            <a:ext cx="38100" cy="1524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11544300" y="3014662"/>
            <a:ext cx="38100" cy="1524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312271" y="4614862"/>
            <a:ext cx="38100" cy="1524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841777" y="4614862"/>
            <a:ext cx="38100" cy="1524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0014942" y="4614862"/>
            <a:ext cx="38100" cy="1524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1544448" y="4614862"/>
            <a:ext cx="38100" cy="1524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900362"/>
            <a:ext cx="10972800" cy="2667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8370" y="3643312"/>
            <a:ext cx="257175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5041" y="3643312"/>
            <a:ext cx="142875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52976" y="3643312"/>
            <a:ext cx="285750" cy="2286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3934" y="3643312"/>
            <a:ext cx="142875" cy="2286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700444" y="3643312"/>
            <a:ext cx="228600" cy="2286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38200" y="609600"/>
            <a:ext cx="11353800" cy="676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0F172A"/>
                </a:solidFill>
                <a:latin typeface="Oswald"/>
              </a:rPr>
              <a:t>MAPPING THE 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9600" y="6057900"/>
            <a:ext cx="115824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0F172A"/>
                </a:solidFill>
                <a:latin typeface="Inter"/>
              </a:rPr>
              <a:t>Adapted from The DevOps Handbook, p. 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-381000" y="2481262"/>
            <a:ext cx="12954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800" b="0" i="0" u="none">
                <a:solidFill>
                  <a:srgbClr val="0F172A"/>
                </a:solidFill>
                <a:latin typeface="Oswald"/>
              </a:rPr>
              <a:t>TOTAL LEAD TIME (WEEKS)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2632" y="3948112"/>
            <a:ext cx="9144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475569"/>
                </a:solidFill>
                <a:latin typeface="Inter"/>
              </a:rPr>
              <a:t>Request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17366" y="3948112"/>
            <a:ext cx="13239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Wait in Queue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86263" y="3948112"/>
            <a:ext cx="130492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369A1"/>
                </a:solidFill>
                <a:latin typeface="Inter"/>
              </a:rPr>
              <a:t>Development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74359" y="3948112"/>
            <a:ext cx="12477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F172A"/>
                </a:solidFill>
                <a:latin typeface="Inter"/>
              </a:rPr>
              <a:t>Wait for CAB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52782" y="3948112"/>
            <a:ext cx="1209675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0369A1"/>
                </a:solidFill>
                <a:latin typeface="Inter"/>
              </a:rPr>
              <a:t>Deployment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16320" y="4957762"/>
            <a:ext cx="1959508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0F172A"/>
                </a:solidFill>
                <a:latin typeface="Oswald"/>
              </a:rPr>
              <a:t>PROCESS TIME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18991" y="4957762"/>
            <a:ext cx="1959508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0F172A"/>
                </a:solidFill>
                <a:latin typeface="Oswald"/>
              </a:rPr>
              <a:t>PROCESS 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0"/>
            <a:ext cx="54864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5600" y="0"/>
            <a:ext cx="54864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609600"/>
            <a:ext cx="68580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43F5E"/>
                </a:solidFill>
                <a:latin typeface="Inter"/>
              </a:rPr>
              <a:t>THE COMMON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990600"/>
            <a:ext cx="5860732" cy="1340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sz="4800" b="1" i="0" u="none" dirty="0">
                <a:solidFill>
                  <a:srgbClr val="0F172A"/>
                </a:solidFill>
                <a:latin typeface="Oswald"/>
              </a:rPr>
              <a:t>DEPLOYMENT REQUIRING MONTHS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166020"/>
            <a:ext cx="466725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 dirty="0">
                <a:solidFill>
                  <a:srgbClr val="475569"/>
                </a:solidFill>
                <a:latin typeface="Inter"/>
              </a:rPr>
              <a:t>High friction, endless handoffs, and rigid approval gates stretch lead times into months or quarters.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057900"/>
            <a:ext cx="68580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F172A"/>
                </a:solidFill>
                <a:latin typeface="Inter"/>
              </a:rPr>
              <a:t>Source: The DevOps Handbook, p.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2971800"/>
            <a:ext cx="3505200" cy="22002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343400" y="2971800"/>
            <a:ext cx="3505200" cy="22002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077200" y="2971800"/>
            <a:ext cx="3505200" cy="22002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2971800"/>
            <a:ext cx="3505200" cy="571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343400" y="2971800"/>
            <a:ext cx="3505200" cy="571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077200" y="2971800"/>
            <a:ext cx="3505200" cy="57150"/>
          </a:xfrm>
          <a:prstGeom prst="rect">
            <a:avLst/>
          </a:prstGeom>
          <a:solidFill>
            <a:srgbClr val="F43F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-381000" y="1685925"/>
            <a:ext cx="12954000" cy="676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600" b="1" i="0" u="none">
                <a:solidFill>
                  <a:srgbClr val="0F172A"/>
                </a:solidFill>
                <a:latin typeface="Oswald"/>
              </a:rPr>
              <a:t>ANATOMY OF A MONTH-LONG DEPLOYMENT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6800" y="3486150"/>
            <a:ext cx="3400425" cy="3905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Oswald"/>
              </a:rPr>
              <a:t>HEROIC EFFORTS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6800" y="4029075"/>
            <a:ext cx="26860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Inter"/>
              </a:rPr>
              <a:t>Deployments require hundreds of manual, undocumented steps.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3486150"/>
            <a:ext cx="3400425" cy="3905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Oswald"/>
              </a:rPr>
              <a:t>MASSIVE BATCHES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00600" y="4029075"/>
            <a:ext cx="26860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Inter"/>
              </a:rPr>
              <a:t>Accumulating hundreds of changes before attempting a release.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4400" y="3486150"/>
            <a:ext cx="3400425" cy="3905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0F172A"/>
                </a:solidFill>
                <a:latin typeface="Oswald"/>
              </a:rPr>
              <a:t>RIGID HANDOFFS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34400" y="4029075"/>
            <a:ext cx="26860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475569"/>
                </a:solidFill>
                <a:latin typeface="Inter"/>
              </a:rPr>
              <a:t>Code sits idle waiting for testing, security, and ops approvals.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0" y="609600"/>
            <a:ext cx="60960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0F172A"/>
                </a:solidFill>
                <a:latin typeface="Inter"/>
              </a:rPr>
              <a:t>THE DEVOPS IDEAL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0" y="990600"/>
            <a:ext cx="5860732" cy="13409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sz="4800" b="1" i="0" u="none">
                <a:solidFill>
                  <a:srgbClr val="0F172A"/>
                </a:solidFill>
                <a:latin typeface="Oswald"/>
              </a:rPr>
              <a:t>DEPLOYMENT IN MINUTES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0" y="2636341"/>
            <a:ext cx="466725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475569"/>
                </a:solidFill>
                <a:latin typeface="Inter"/>
              </a:rPr>
              <a:t>Any code committed can be automatically, safely, and independently deployed to production.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0" y="6057900"/>
            <a:ext cx="6096000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F172A"/>
                </a:solidFill>
                <a:latin typeface="Inter"/>
              </a:rPr>
              <a:t>Source: The DevOps Handbook, p.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809750" y="1809750"/>
            <a:ext cx="8572500" cy="1304925"/>
          </a:xfrm>
          <a:prstGeom prst="roundRect">
            <a:avLst>
              <a:gd name="adj" fmla="val 875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809750" y="3419475"/>
            <a:ext cx="8572500" cy="1304925"/>
          </a:xfrm>
          <a:prstGeom prst="roundRect">
            <a:avLst>
              <a:gd name="adj" fmla="val 875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809750" y="5029200"/>
            <a:ext cx="8572500" cy="1304925"/>
          </a:xfrm>
          <a:prstGeom prst="roundRect">
            <a:avLst>
              <a:gd name="adj" fmla="val 8759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2114550" y="2157412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114550" y="3767137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114550" y="5376862"/>
            <a:ext cx="609600" cy="609600"/>
          </a:xfrm>
          <a:prstGeom prst="roundRect">
            <a:avLst>
              <a:gd name="adj" fmla="val 50000"/>
            </a:avLst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9562" y="523875"/>
            <a:ext cx="5188148" cy="6762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600" b="1" i="0" u="none">
                <a:solidFill>
                  <a:srgbClr val="F8FAFC"/>
                </a:solidFill>
                <a:latin typeface="Oswald"/>
              </a:rPr>
              <a:t>ACHIEVING THE IDEAL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71675" y="2157412"/>
            <a:ext cx="895350" cy="609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b="1" i="0" u="none">
                <a:solidFill>
                  <a:srgbClr val="F8FAFC"/>
                </a:solidFill>
                <a:latin typeface="Inter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71675" y="3767137"/>
            <a:ext cx="895350" cy="609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b="1" i="0" u="none">
                <a:solidFill>
                  <a:srgbClr val="F8FAFC"/>
                </a:solidFill>
                <a:latin typeface="Inter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71675" y="5376862"/>
            <a:ext cx="895350" cy="609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b="1" i="0" u="none">
                <a:solidFill>
                  <a:srgbClr val="F8FAFC"/>
                </a:solidFill>
                <a:latin typeface="Inter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28950" y="2114550"/>
            <a:ext cx="6000750" cy="3905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8FAFC"/>
                </a:solidFill>
                <a:latin typeface="Oswald"/>
              </a:rPr>
              <a:t>SMALL BATCH SIZES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28950" y="2581275"/>
            <a:ext cx="571500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94A3B8"/>
                </a:solidFill>
                <a:latin typeface="Inter"/>
              </a:rPr>
              <a:t>Integrate and deploy single changes continuously.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28950" y="3724275"/>
            <a:ext cx="5963245" cy="3905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8FAFC"/>
                </a:solidFill>
                <a:latin typeface="Oswald"/>
              </a:rPr>
              <a:t>AUTOMATED TESTING &amp; ENVIRONMENTS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28950" y="4191000"/>
            <a:ext cx="5679281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94A3B8"/>
                </a:solidFill>
                <a:latin typeface="Inter"/>
              </a:rPr>
              <a:t>Eliminate manual validation and environment drift.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28950" y="5334000"/>
            <a:ext cx="8376046" cy="3905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8FAFC"/>
                </a:solidFill>
                <a:latin typeface="Oswald"/>
              </a:rPr>
              <a:t>DECOUPLED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28950" y="5800725"/>
            <a:ext cx="7977187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94A3B8"/>
                </a:solidFill>
                <a:latin typeface="Inter"/>
              </a:rPr>
              <a:t>Design services to be deployed independently without cascading risk.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71500" y="914400"/>
            <a:ext cx="11049000" cy="838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71500" y="17430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71500" y="17430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90612"/>
            <a:ext cx="857250" cy="4762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95475"/>
            <a:ext cx="857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571500"/>
            <a:ext cx="36433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1800" b="1" i="0" u="none" dirty="0">
                <a:solidFill>
                  <a:srgbClr val="F8FAFC"/>
                </a:solidFill>
                <a:latin typeface="Oswald"/>
              </a:rPr>
              <a:t>IMAGE</a:t>
            </a:r>
            <a:r>
              <a:rPr sz="1800" b="1" i="0" u="none" dirty="0">
                <a:solidFill>
                  <a:srgbClr val="F8FAFC"/>
                </a:solidFill>
                <a:latin typeface="Oswald"/>
              </a:rPr>
              <a:t> SOURCES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6875" y="1057275"/>
            <a:ext cx="10048875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 dirty="0">
                <a:solidFill>
                  <a:srgbClr val="F8FAFC"/>
                </a:solidFill>
                <a:latin typeface="Inter"/>
              </a:rPr>
              <a:t>https://media.istockphoto.com/id/182352062/photo/stressed-businessman-office-worker-gasping-at-huge-stack-of-paperwork.jpg?s=612x612&amp;w=0&amp;k=20&amp;c=DxAz4u6Rku3M84rQ-91gmQQQ8MSD98jyh2WlF2D67B0=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66875" y="1409700"/>
            <a:ext cx="2774156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 dirty="0">
                <a:solidFill>
                  <a:srgbClr val="F8FAFC"/>
                </a:solidFill>
                <a:latin typeface="Inter"/>
              </a:rPr>
              <a:t>Source: </a:t>
            </a:r>
            <a:r>
              <a:rPr sz="1200" b="0" i="0" u="none" dirty="0">
                <a:solidFill>
                  <a:srgbClr val="4F46E5"/>
                </a:solidFill>
                <a:latin typeface="Inter"/>
              </a:rPr>
              <a:t>www.istockphoto.com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6875" y="1938337"/>
            <a:ext cx="763190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F8FAFC"/>
                </a:solidFill>
                <a:latin typeface="Inter"/>
              </a:rPr>
              <a:t>https://as1.ftcdn.net/v2/jpg/05/09/50/68/1000_F_509506817_CIyDg4tsce3GwAfEupH77ingiH1FvC2M.jpg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66875" y="2138362"/>
            <a:ext cx="2547937" cy="1905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F8FAFC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www.europosters.ie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EE4FA26-7B6B-53D4-D559-7404A8D44EC9}"/>
              </a:ext>
            </a:extLst>
          </p:cNvPr>
          <p:cNvSpPr txBox="1"/>
          <p:nvPr/>
        </p:nvSpPr>
        <p:spPr>
          <a:xfrm>
            <a:off x="571500" y="2699004"/>
            <a:ext cx="364331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b="1" i="0" u="none" dirty="0">
                <a:solidFill>
                  <a:srgbClr val="F8FAFC"/>
                </a:solidFill>
                <a:latin typeface="Oswald"/>
              </a:rPr>
              <a:t>RESOURCES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0E502D-EA8A-1803-CF22-1A0728B5D8F2}"/>
              </a:ext>
            </a:extLst>
          </p:cNvPr>
          <p:cNvSpPr txBox="1"/>
          <p:nvPr/>
        </p:nvSpPr>
        <p:spPr>
          <a:xfrm>
            <a:off x="571501" y="3127629"/>
            <a:ext cx="6780276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200" dirty="0">
                <a:solidFill>
                  <a:schemeClr val="bg1"/>
                </a:solidFill>
              </a:rPr>
              <a:t>Kim, G., Humble, J., Debois, P., &amp; Willis, J. (2016). The DevOps Handbook: How to Create World-Class Agility, Reliability, and Security in Technology Organizations. IT Revolution Press.</a:t>
            </a:r>
          </a:p>
          <a:p>
            <a:endParaRPr lang="en-US" sz="1200" dirty="0">
              <a:solidFill>
                <a:schemeClr val="bg1"/>
              </a:solidFill>
            </a:endParaRPr>
          </a:p>
          <a:p>
            <a:r>
              <a:rPr lang="en-US" sz="1200" dirty="0">
                <a:solidFill>
                  <a:schemeClr val="bg1"/>
                </a:solidFill>
              </a:rPr>
              <a:t>Google. (2026). Gemini [Large language model]. </a:t>
            </a:r>
            <a:r>
              <a:rPr lang="en-US" sz="1200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https://gemini.google.com</a:t>
            </a:r>
            <a:endParaRPr lang="en-US" sz="1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414</Words>
  <Application>Microsoft Office PowerPoint</Application>
  <PresentationFormat>Widescreen</PresentationFormat>
  <Paragraphs>65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Inter</vt:lpstr>
      <vt:lpstr>Oswald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Marco Rodriguez Gomez</cp:lastModifiedBy>
  <cp:revision>2</cp:revision>
  <dcterms:created xsi:type="dcterms:W3CDTF">2013-01-27T09:14:16Z</dcterms:created>
  <dcterms:modified xsi:type="dcterms:W3CDTF">2026-10-23T16:29:29Z</dcterms:modified>
  <cp:category/>
</cp:coreProperties>
</file>